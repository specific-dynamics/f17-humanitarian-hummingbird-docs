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Lato Italics" panose="020B0604020202020204" charset="0"/>
      <p:regular r:id="rId33"/>
    </p:embeddedFont>
    <p:embeddedFont>
      <p:font typeface="Poppins" panose="020B0502040204020203" pitchFamily="2" charset="0"/>
      <p:regular r:id="rId34"/>
    </p:embeddedFont>
    <p:embeddedFont>
      <p:font typeface="Poppins Light" panose="020B0502040204020203" pitchFamily="2" charset="0"/>
      <p:regular r:id="rId35"/>
    </p:embeddedFont>
    <p:embeddedFont>
      <p:font typeface="Poppins Light Italics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74388-6CE5-4761-88BA-BB4D50173923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BAE79-9652-4C5D-AC54-0773138D6C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6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666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5684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99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8273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635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051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129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CALEB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0176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CALEB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785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VIKRAM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140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VIKRAM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8749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KHAI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012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KHAI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689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CHLOE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627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CHLOE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887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CHLOE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6153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673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9431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1205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8706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9982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6074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8775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4080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300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BAE79-9652-4C5D-AC54-0773138D6C4E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1807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13989" y="326334"/>
            <a:ext cx="9903425" cy="9631048"/>
          </a:xfrm>
          <a:custGeom>
            <a:avLst/>
            <a:gdLst/>
            <a:ahLst/>
            <a:cxnLst/>
            <a:rect l="l" t="t" r="r" b="b"/>
            <a:pathLst>
              <a:path w="9903425" h="9631048">
                <a:moveTo>
                  <a:pt x="0" y="0"/>
                </a:moveTo>
                <a:lnTo>
                  <a:pt x="9903425" y="0"/>
                </a:lnTo>
                <a:lnTo>
                  <a:pt x="9903425" y="9631048"/>
                </a:lnTo>
                <a:lnTo>
                  <a:pt x="0" y="9631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0" r="-650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028700" y="0"/>
            <a:ext cx="19257162" cy="10287000"/>
            <a:chOff x="0" y="0"/>
            <a:chExt cx="507184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71845" cy="2709333"/>
            </a:xfrm>
            <a:custGeom>
              <a:avLst/>
              <a:gdLst/>
              <a:ahLst/>
              <a:cxnLst/>
              <a:rect l="l" t="t" r="r" b="b"/>
              <a:pathLst>
                <a:path w="5071845" h="2709333">
                  <a:moveTo>
                    <a:pt x="0" y="0"/>
                  </a:moveTo>
                  <a:lnTo>
                    <a:pt x="5071845" y="0"/>
                  </a:lnTo>
                  <a:lnTo>
                    <a:pt x="507184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7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7184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42869" y="4334138"/>
            <a:ext cx="17654443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55"/>
              </a:lnSpc>
            </a:pPr>
            <a:r>
              <a:rPr lang="en-US" sz="10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SPECIFIC DYNAMICS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2869" y="6138463"/>
            <a:ext cx="694363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Higher Purpose. 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2114927" y="4783138"/>
            <a:ext cx="4826454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55881" y="2604770"/>
            <a:ext cx="8204860" cy="50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Commercial micro-drones: $300+ with closed ecosystems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Limited customization for specialized tasks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Long development timelines for purpose-built platforms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 affordable, modular, hackable sub-250 g platform exists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5922" y="0"/>
            <a:ext cx="7723378" cy="10287000"/>
            <a:chOff x="0" y="0"/>
            <a:chExt cx="2034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4141" cy="2709333"/>
            </a:xfrm>
            <a:custGeom>
              <a:avLst/>
              <a:gdLst/>
              <a:ahLst/>
              <a:cxnLst/>
              <a:rect l="l" t="t" r="r" b="b"/>
              <a:pathLst>
                <a:path w="2034141" h="2709333">
                  <a:moveTo>
                    <a:pt x="0" y="0"/>
                  </a:moveTo>
                  <a:lnTo>
                    <a:pt x="2034141" y="0"/>
                  </a:lnTo>
                  <a:lnTo>
                    <a:pt x="203414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7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41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7181376" y="1141791"/>
            <a:ext cx="12432470" cy="9604083"/>
          </a:xfrm>
          <a:custGeom>
            <a:avLst/>
            <a:gdLst/>
            <a:ahLst/>
            <a:cxnLst/>
            <a:rect l="l" t="t" r="r" b="b"/>
            <a:pathLst>
              <a:path w="12432470" h="9604083">
                <a:moveTo>
                  <a:pt x="0" y="0"/>
                </a:moveTo>
                <a:lnTo>
                  <a:pt x="12432470" y="0"/>
                </a:lnTo>
                <a:lnTo>
                  <a:pt x="12432470" y="9604083"/>
                </a:lnTo>
                <a:lnTo>
                  <a:pt x="0" y="9604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1689947" y="2923570"/>
            <a:ext cx="7147108" cy="159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F17-HUMANITARIAN HUMMINGBIRD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9947" y="4892833"/>
            <a:ext cx="6708894" cy="389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145 g microdrone platform where the printed circuit board itself serves as the structural airframe, eliminating the need for a traditional frame. The system integrates a custom brushless motor controller, PID-stabilized flight controller, and ESP-NOW wireless control link, all designed and built from scratch. The result is a compact, low-cost, and fully modular proof-of-concept platform that can be adapted for general-purpose UAV applications including aerial sensing, imaging, and small payload delivery.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7048231" y="802139"/>
            <a:ext cx="11239769" cy="8682721"/>
          </a:xfrm>
          <a:custGeom>
            <a:avLst/>
            <a:gdLst/>
            <a:ahLst/>
            <a:cxnLst/>
            <a:rect l="l" t="t" r="r" b="b"/>
            <a:pathLst>
              <a:path w="11239769" h="8682721">
                <a:moveTo>
                  <a:pt x="0" y="0"/>
                </a:moveTo>
                <a:lnTo>
                  <a:pt x="11239769" y="0"/>
                </a:lnTo>
                <a:lnTo>
                  <a:pt x="11239769" y="8682722"/>
                </a:lnTo>
                <a:lnTo>
                  <a:pt x="0" y="8682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650734" y="4292600"/>
            <a:ext cx="6212779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LET’S SEE THIS SH!T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0734" y="5107940"/>
            <a:ext cx="6212779" cy="119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7200" i="1">
                <a:solidFill>
                  <a:srgbClr val="FFFFFF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FLY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5586082" y="689452"/>
            <a:ext cx="12701918" cy="9812231"/>
          </a:xfrm>
          <a:custGeom>
            <a:avLst/>
            <a:gdLst/>
            <a:ahLst/>
            <a:cxnLst/>
            <a:rect l="l" t="t" r="r" b="b"/>
            <a:pathLst>
              <a:path w="12701918" h="9812231">
                <a:moveTo>
                  <a:pt x="0" y="0"/>
                </a:moveTo>
                <a:lnTo>
                  <a:pt x="12701918" y="0"/>
                </a:lnTo>
                <a:lnTo>
                  <a:pt x="12701918" y="9812231"/>
                </a:lnTo>
                <a:lnTo>
                  <a:pt x="0" y="981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2348022" y="4435475"/>
            <a:ext cx="6011788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9144000" y="779586"/>
            <a:ext cx="6054931" cy="8727829"/>
          </a:xfrm>
          <a:custGeom>
            <a:avLst/>
            <a:gdLst/>
            <a:ahLst/>
            <a:cxnLst/>
            <a:rect l="l" t="t" r="r" b="b"/>
            <a:pathLst>
              <a:path w="6054931" h="8727829">
                <a:moveTo>
                  <a:pt x="0" y="0"/>
                </a:moveTo>
                <a:lnTo>
                  <a:pt x="6054931" y="0"/>
                </a:lnTo>
                <a:lnTo>
                  <a:pt x="6054931" y="8727828"/>
                </a:lnTo>
                <a:lnTo>
                  <a:pt x="0" y="872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804425" y="4552950"/>
            <a:ext cx="4995788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HIGH-LEVEL SYSTEM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33583" y="2038996"/>
            <a:ext cx="10553973" cy="6209008"/>
          </a:xfrm>
          <a:custGeom>
            <a:avLst/>
            <a:gdLst/>
            <a:ahLst/>
            <a:cxnLst/>
            <a:rect l="l" t="t" r="r" b="b"/>
            <a:pathLst>
              <a:path w="10553973" h="6209008">
                <a:moveTo>
                  <a:pt x="0" y="0"/>
                </a:moveTo>
                <a:lnTo>
                  <a:pt x="10553973" y="0"/>
                </a:lnTo>
                <a:lnTo>
                  <a:pt x="10553973" y="6209008"/>
                </a:lnTo>
                <a:lnTo>
                  <a:pt x="0" y="620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804425" y="4552950"/>
            <a:ext cx="4995788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AVIONICS</a:t>
            </a:r>
          </a:p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FLIGHT CONTROLLER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636516" y="4298123"/>
            <a:ext cx="8337029" cy="46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6 cascaded loops - outer angle + inner rate for each axis (roll, pitch, yaw)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 kHz loop rate                                     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9-axis sensor fusion - Mahony filter (gyro + accel + magnetometer)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Ziegler-Nichols tuned, empirically refined in flight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4-state failsafe - 1 s timeout → motors off → must re-arm  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9947" y="2741262"/>
            <a:ext cx="6807466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PID/AVIONICS FLIGHT CONTROLLER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9973545" y="1423396"/>
            <a:ext cx="8115783" cy="7440209"/>
            <a:chOff x="0" y="0"/>
            <a:chExt cx="736872" cy="6755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6872" cy="675533"/>
            </a:xfrm>
            <a:custGeom>
              <a:avLst/>
              <a:gdLst/>
              <a:ahLst/>
              <a:cxnLst/>
              <a:rect l="l" t="t" r="r" b="b"/>
              <a:pathLst>
                <a:path w="736872" h="675533">
                  <a:moveTo>
                    <a:pt x="0" y="0"/>
                  </a:moveTo>
                  <a:lnTo>
                    <a:pt x="736872" y="0"/>
                  </a:lnTo>
                  <a:lnTo>
                    <a:pt x="736872" y="675533"/>
                  </a:lnTo>
                  <a:lnTo>
                    <a:pt x="0" y="675533"/>
                  </a:lnTo>
                  <a:close/>
                </a:path>
              </a:pathLst>
            </a:custGeom>
            <a:blipFill>
              <a:blip r:embed="rId4"/>
              <a:stretch>
                <a:fillRect l="-9337" r="-93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6319273" y="3539438"/>
            <a:ext cx="11301259" cy="4478124"/>
          </a:xfrm>
          <a:custGeom>
            <a:avLst/>
            <a:gdLst/>
            <a:ahLst/>
            <a:cxnLst/>
            <a:rect l="l" t="t" r="r" b="b"/>
            <a:pathLst>
              <a:path w="11301259" h="4478124">
                <a:moveTo>
                  <a:pt x="0" y="0"/>
                </a:moveTo>
                <a:lnTo>
                  <a:pt x="11301259" y="0"/>
                </a:lnTo>
                <a:lnTo>
                  <a:pt x="11301259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689947" y="2741262"/>
            <a:ext cx="5552825" cy="286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AVIONICS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FLIGHT CONTROLLER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FIRMWARE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44161" y="1849534"/>
            <a:ext cx="11643839" cy="6884420"/>
          </a:xfrm>
          <a:custGeom>
            <a:avLst/>
            <a:gdLst/>
            <a:ahLst/>
            <a:cxnLst/>
            <a:rect l="l" t="t" r="r" b="b"/>
            <a:pathLst>
              <a:path w="11643839" h="6884420">
                <a:moveTo>
                  <a:pt x="0" y="0"/>
                </a:moveTo>
                <a:lnTo>
                  <a:pt x="11643839" y="0"/>
                </a:lnTo>
                <a:lnTo>
                  <a:pt x="11643839" y="6884420"/>
                </a:lnTo>
                <a:lnTo>
                  <a:pt x="0" y="6884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836395" y="4128410"/>
            <a:ext cx="3745185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ELECTRONIC SPEED CONTROLLER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414213" y="5086350"/>
            <a:ext cx="8204860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Stall detection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Back EMF Commutation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Over current protection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Motor song indicator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Voltage Regulation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378880" y="80600"/>
            <a:ext cx="11045228" cy="10125801"/>
            <a:chOff x="0" y="0"/>
            <a:chExt cx="736872" cy="675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6872" cy="675533"/>
            </a:xfrm>
            <a:custGeom>
              <a:avLst/>
              <a:gdLst/>
              <a:ahLst/>
              <a:cxnLst/>
              <a:rect l="l" t="t" r="r" b="b"/>
              <a:pathLst>
                <a:path w="736872" h="675533">
                  <a:moveTo>
                    <a:pt x="0" y="0"/>
                  </a:moveTo>
                  <a:lnTo>
                    <a:pt x="736872" y="0"/>
                  </a:lnTo>
                  <a:lnTo>
                    <a:pt x="736872" y="675533"/>
                  </a:lnTo>
                  <a:lnTo>
                    <a:pt x="0" y="675533"/>
                  </a:lnTo>
                  <a:close/>
                </a:path>
              </a:pathLst>
            </a:custGeom>
            <a:blipFill>
              <a:blip r:embed="rId3"/>
              <a:stretch>
                <a:fillRect l="-9337" r="-93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89947" y="2741262"/>
            <a:ext cx="5552825" cy="216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ELECTRONIC SPEED CONTROLLER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66607" y="3622971"/>
            <a:ext cx="8358619" cy="5315697"/>
          </a:xfrm>
          <a:custGeom>
            <a:avLst/>
            <a:gdLst/>
            <a:ahLst/>
            <a:cxnLst/>
            <a:rect l="l" t="t" r="r" b="b"/>
            <a:pathLst>
              <a:path w="8358619" h="5315697">
                <a:moveTo>
                  <a:pt x="0" y="0"/>
                </a:moveTo>
                <a:lnTo>
                  <a:pt x="8358620" y="0"/>
                </a:lnTo>
                <a:lnTo>
                  <a:pt x="8358620" y="5315698"/>
                </a:lnTo>
                <a:lnTo>
                  <a:pt x="0" y="5315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023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82085" y="3726488"/>
            <a:ext cx="6504995" cy="4887562"/>
          </a:xfrm>
          <a:custGeom>
            <a:avLst/>
            <a:gdLst/>
            <a:ahLst/>
            <a:cxnLst/>
            <a:rect l="l" t="t" r="r" b="b"/>
            <a:pathLst>
              <a:path w="6504995" h="4887562">
                <a:moveTo>
                  <a:pt x="0" y="0"/>
                </a:moveTo>
                <a:lnTo>
                  <a:pt x="6504995" y="0"/>
                </a:lnTo>
                <a:lnTo>
                  <a:pt x="6504995" y="4887561"/>
                </a:lnTo>
                <a:lnTo>
                  <a:pt x="0" y="4887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79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732280" y="2349796"/>
            <a:ext cx="12779184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TRAPEZOIDAL SIX-STEP COMUTATION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8466607" y="9043352"/>
            <a:ext cx="6708894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Source: MathWorks MATLAB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8544988" y="2420285"/>
            <a:ext cx="8903586" cy="5798460"/>
          </a:xfrm>
          <a:custGeom>
            <a:avLst/>
            <a:gdLst/>
            <a:ahLst/>
            <a:cxnLst/>
            <a:rect l="l" t="t" r="r" b="b"/>
            <a:pathLst>
              <a:path w="8903586" h="5798460">
                <a:moveTo>
                  <a:pt x="0" y="0"/>
                </a:moveTo>
                <a:lnTo>
                  <a:pt x="8903586" y="0"/>
                </a:lnTo>
                <a:lnTo>
                  <a:pt x="8903586" y="5798461"/>
                </a:lnTo>
                <a:lnTo>
                  <a:pt x="0" y="5798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05600" y="3524305"/>
            <a:ext cx="6718508" cy="46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Each motor is generally controlled using as state machine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Main loop updates the motor state, and reads the motor speed PWM sent from the flight controller board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CLOSE LOOP RUN is the spinning state for the motor, relying on back EMF reading for commutation timing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9947" y="2741262"/>
            <a:ext cx="5552825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 FIRMWARE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82191" y="1747188"/>
            <a:ext cx="9588837" cy="6792625"/>
          </a:xfrm>
          <a:custGeom>
            <a:avLst/>
            <a:gdLst/>
            <a:ahLst/>
            <a:cxnLst/>
            <a:rect l="l" t="t" r="r" b="b"/>
            <a:pathLst>
              <a:path w="9588837" h="6792625">
                <a:moveTo>
                  <a:pt x="0" y="0"/>
                </a:moveTo>
                <a:lnTo>
                  <a:pt x="9588836" y="0"/>
                </a:lnTo>
                <a:lnTo>
                  <a:pt x="9588836" y="6792624"/>
                </a:lnTo>
                <a:lnTo>
                  <a:pt x="0" y="6792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804425" y="4552950"/>
            <a:ext cx="499578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REMOTE </a:t>
            </a:r>
          </a:p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414213" y="4599939"/>
            <a:ext cx="7285669" cy="290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Battery or USB-C Power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Local battery charging and power regulation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ESP32C3-mini for ESP-NOW wireless communication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I2C LCD user interface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807390" y="2002317"/>
            <a:ext cx="7945538" cy="6673526"/>
            <a:chOff x="0" y="0"/>
            <a:chExt cx="804293" cy="675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293" cy="675533"/>
            </a:xfrm>
            <a:custGeom>
              <a:avLst/>
              <a:gdLst/>
              <a:ahLst/>
              <a:cxnLst/>
              <a:rect l="l" t="t" r="r" b="b"/>
              <a:pathLst>
                <a:path w="804293" h="675533">
                  <a:moveTo>
                    <a:pt x="0" y="0"/>
                  </a:moveTo>
                  <a:lnTo>
                    <a:pt x="804293" y="0"/>
                  </a:lnTo>
                  <a:lnTo>
                    <a:pt x="804293" y="675533"/>
                  </a:lnTo>
                  <a:lnTo>
                    <a:pt x="0" y="675533"/>
                  </a:lnTo>
                  <a:close/>
                </a:path>
              </a:pathLst>
            </a:custGeom>
            <a:blipFill>
              <a:blip r:embed="rId3"/>
              <a:stretch>
                <a:fillRect l="-9030" r="-6025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14213" y="2877370"/>
            <a:ext cx="555282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REMOTE CONTROL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9144000" y="1637091"/>
            <a:ext cx="7638850" cy="7037291"/>
          </a:xfrm>
          <a:custGeom>
            <a:avLst/>
            <a:gdLst/>
            <a:ahLst/>
            <a:cxnLst/>
            <a:rect l="l" t="t" r="r" b="b"/>
            <a:pathLst>
              <a:path w="7638850" h="7037291">
                <a:moveTo>
                  <a:pt x="0" y="0"/>
                </a:moveTo>
                <a:lnTo>
                  <a:pt x="7638850" y="0"/>
                </a:lnTo>
                <a:lnTo>
                  <a:pt x="7638850" y="7037291"/>
                </a:lnTo>
                <a:lnTo>
                  <a:pt x="0" y="703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4213" y="4991100"/>
            <a:ext cx="7050981" cy="231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Stored user interface calibration values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IIR gimbal ADC filtering</a:t>
            </a:r>
          </a:p>
          <a:p>
            <a:pPr marL="561336" lvl="1" indent="-280668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ESP-NOW packet queueing and acknowledgement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9947" y="2741262"/>
            <a:ext cx="5552825" cy="216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REMOTE CONTROL FIRMWARE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7310" y="317500"/>
            <a:ext cx="9018024" cy="9652000"/>
            <a:chOff x="0" y="0"/>
            <a:chExt cx="12024031" cy="1286933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t="19880" b="40355"/>
            <a:stretch>
              <a:fillRect/>
            </a:stretch>
          </p:blipFill>
          <p:spPr>
            <a:xfrm>
              <a:off x="0" y="0"/>
              <a:ext cx="7931354" cy="4205111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l="17826"/>
            <a:stretch>
              <a:fillRect/>
            </a:stretch>
          </p:blipFill>
          <p:spPr>
            <a:xfrm>
              <a:off x="8058354" y="0"/>
              <a:ext cx="3965677" cy="643466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rcRect t="9635" b="9635"/>
            <a:stretch>
              <a:fillRect/>
            </a:stretch>
          </p:blipFill>
          <p:spPr>
            <a:xfrm>
              <a:off x="0" y="4332111"/>
              <a:ext cx="7931354" cy="8537222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rcRect l="37744" r="15102"/>
            <a:stretch>
              <a:fillRect/>
            </a:stretch>
          </p:blipFill>
          <p:spPr>
            <a:xfrm>
              <a:off x="8058354" y="6561667"/>
              <a:ext cx="3965677" cy="6307667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2094022" y="4156961"/>
            <a:ext cx="6011788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TESTING AND 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1221390" y="1049036"/>
            <a:ext cx="6288262" cy="8188928"/>
          </a:xfrm>
          <a:custGeom>
            <a:avLst/>
            <a:gdLst/>
            <a:ahLst/>
            <a:cxnLst/>
            <a:rect l="l" t="t" r="r" b="b"/>
            <a:pathLst>
              <a:path w="6288262" h="8188928">
                <a:moveTo>
                  <a:pt x="0" y="0"/>
                </a:moveTo>
                <a:lnTo>
                  <a:pt x="6288262" y="0"/>
                </a:lnTo>
                <a:lnTo>
                  <a:pt x="6288262" y="8188928"/>
                </a:lnTo>
                <a:lnTo>
                  <a:pt x="0" y="8188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86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4213" y="2877370"/>
            <a:ext cx="5552825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4213" y="4123925"/>
            <a:ext cx="9178527" cy="50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20/24 tests passed (6 UWB tests descoped)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 fail: max throttle current ~18 A exceeds 15 A constraint - hover current (10.4–12 A) is within spec; transient only. BEMF efficiency is near 100%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 not attempted: bare PCB hover (safety - guards kept on) and add-on module hover (not formally tested)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Custom ESC designed, built, integrated, and flying - outperforms commercial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Drone hovers, communicates, and stabilizes as designed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prototype passes acceptance testing  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1792890" y="652232"/>
            <a:ext cx="5828965" cy="8982536"/>
          </a:xfrm>
          <a:custGeom>
            <a:avLst/>
            <a:gdLst/>
            <a:ahLst/>
            <a:cxnLst/>
            <a:rect l="l" t="t" r="r" b="b"/>
            <a:pathLst>
              <a:path w="5828965" h="8982536">
                <a:moveTo>
                  <a:pt x="0" y="0"/>
                </a:moveTo>
                <a:lnTo>
                  <a:pt x="5828965" y="0"/>
                </a:lnTo>
                <a:lnTo>
                  <a:pt x="5828965" y="8982536"/>
                </a:lnTo>
                <a:lnTo>
                  <a:pt x="0" y="898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783" r="-14084" b="-3764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4213" y="4641850"/>
            <a:ext cx="9919360" cy="410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Weight: 145 g - 42% under the 250 g limit           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Thrust-to-weight: 2.32:1 - exceeds 2:1 target       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ESP-NOW range: 3% packet loss at 10 m, no consecutive drops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Hover endurance: 5.5 minutes - nearly 3x the 2-minute requirement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Custom ESC: all bench + flight tests passed, outperforms COTS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PID control loop: confirmed 1 kHz, stable manual hover achieved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Budget: $2,265.23 - under $2,500 cap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4213" y="2877370"/>
            <a:ext cx="555282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TESTING AND VALIDATION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565616" y="329618"/>
            <a:ext cx="5693684" cy="4270263"/>
          </a:xfrm>
          <a:custGeom>
            <a:avLst/>
            <a:gdLst/>
            <a:ahLst/>
            <a:cxnLst/>
            <a:rect l="l" t="t" r="r" b="b"/>
            <a:pathLst>
              <a:path w="5693684" h="4270263">
                <a:moveTo>
                  <a:pt x="0" y="0"/>
                </a:moveTo>
                <a:lnTo>
                  <a:pt x="5693684" y="0"/>
                </a:lnTo>
                <a:lnTo>
                  <a:pt x="5693684" y="4270263"/>
                </a:lnTo>
                <a:lnTo>
                  <a:pt x="0" y="4270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9827327" y="4599881"/>
            <a:ext cx="4089539" cy="5062670"/>
          </a:xfrm>
          <a:custGeom>
            <a:avLst/>
            <a:gdLst/>
            <a:ahLst/>
            <a:cxnLst/>
            <a:rect l="l" t="t" r="r" b="b"/>
            <a:pathLst>
              <a:path w="4089539" h="5062670">
                <a:moveTo>
                  <a:pt x="0" y="0"/>
                </a:moveTo>
                <a:lnTo>
                  <a:pt x="4089539" y="0"/>
                </a:lnTo>
                <a:lnTo>
                  <a:pt x="4089539" y="5062670"/>
                </a:lnTo>
                <a:lnTo>
                  <a:pt x="0" y="5062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04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3916866" y="4599881"/>
            <a:ext cx="3342434" cy="4456579"/>
          </a:xfrm>
          <a:custGeom>
            <a:avLst/>
            <a:gdLst/>
            <a:ahLst/>
            <a:cxnLst/>
            <a:rect l="l" t="t" r="r" b="b"/>
            <a:pathLst>
              <a:path w="3342434" h="4456579">
                <a:moveTo>
                  <a:pt x="0" y="0"/>
                </a:moveTo>
                <a:lnTo>
                  <a:pt x="3342434" y="0"/>
                </a:lnTo>
                <a:lnTo>
                  <a:pt x="3342434" y="4456579"/>
                </a:lnTo>
                <a:lnTo>
                  <a:pt x="0" y="445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2072855" y="4156961"/>
            <a:ext cx="6011788" cy="286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MANAGEMENT AND EXPENDITURES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1089908" y="679159"/>
            <a:ext cx="6696511" cy="8928682"/>
          </a:xfrm>
          <a:custGeom>
            <a:avLst/>
            <a:gdLst/>
            <a:ahLst/>
            <a:cxnLst/>
            <a:rect l="l" t="t" r="r" b="b"/>
            <a:pathLst>
              <a:path w="6696511" h="8928682">
                <a:moveTo>
                  <a:pt x="0" y="0"/>
                </a:moveTo>
                <a:lnTo>
                  <a:pt x="6696511" y="0"/>
                </a:lnTo>
                <a:lnTo>
                  <a:pt x="6696511" y="8928682"/>
                </a:lnTo>
                <a:lnTo>
                  <a:pt x="0" y="8928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4213" y="5086350"/>
            <a:ext cx="820486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Total cost for R&amp;D plus final product $2265.23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Hours - ??? (a lot)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14213" y="2877370"/>
            <a:ext cx="555282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HOURS AND EXPENDITURES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1703929" y="1057781"/>
            <a:ext cx="6128579" cy="8171438"/>
          </a:xfrm>
          <a:custGeom>
            <a:avLst/>
            <a:gdLst/>
            <a:ahLst/>
            <a:cxnLst/>
            <a:rect l="l" t="t" r="r" b="b"/>
            <a:pathLst>
              <a:path w="6128579" h="8171438">
                <a:moveTo>
                  <a:pt x="0" y="0"/>
                </a:moveTo>
                <a:lnTo>
                  <a:pt x="6128579" y="0"/>
                </a:lnTo>
                <a:lnTo>
                  <a:pt x="6128579" y="8171438"/>
                </a:lnTo>
                <a:lnTo>
                  <a:pt x="0" y="8171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4213" y="4259980"/>
            <a:ext cx="10165891" cy="4563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ESC test board revision - MOSFET orientation error on v1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UWB descoped - planned as removable from day one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Integration bottleneck -  comms code ready at MVP, couldn't test until drone hardware was built   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-US" sz="2599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What went faster than planned</a:t>
            </a: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Firmware integration - clean architecture made modules slot together easily                                                         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PID implementation - strong upfront research accelerated development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4213" y="2454154"/>
            <a:ext cx="555282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DEVIATIONS AND CHANGES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4918" y="532305"/>
            <a:ext cx="7192305" cy="9222391"/>
            <a:chOff x="0" y="0"/>
            <a:chExt cx="9589740" cy="1229652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590" t="28370" b="24816"/>
            <a:stretch>
              <a:fillRect/>
            </a:stretch>
          </p:blipFill>
          <p:spPr>
            <a:xfrm>
              <a:off x="0" y="0"/>
              <a:ext cx="9589740" cy="6021261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t="2718" b="25695"/>
            <a:stretch>
              <a:fillRect/>
            </a:stretch>
          </p:blipFill>
          <p:spPr>
            <a:xfrm>
              <a:off x="0" y="6148261"/>
              <a:ext cx="3154247" cy="301063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rcRect r="2938" b="30518"/>
            <a:stretch>
              <a:fillRect/>
            </a:stretch>
          </p:blipFill>
          <p:spPr>
            <a:xfrm>
              <a:off x="0" y="9285891"/>
              <a:ext cx="3154247" cy="301063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rcRect l="2765" t="22482" b="6444"/>
            <a:stretch>
              <a:fillRect/>
            </a:stretch>
          </p:blipFill>
          <p:spPr>
            <a:xfrm>
              <a:off x="3281247" y="6148261"/>
              <a:ext cx="6308494" cy="6148261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2411522" y="4783138"/>
            <a:ext cx="6392788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LESSONS LEARNED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414213" y="3519170"/>
            <a:ext cx="14626451" cy="6391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Engineering Lessons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Plan for at least one board respin -  your first PCB will have errors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 on final hardware - dev board tuning doesn't transfer          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Invest in software architecture early - clean interfaces made integration fast                                        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Build redundancy + ORDER EXTRA - our backups had backups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Team-Work Lessons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Good Git management is crucial - 6 people, multiple branches and discipline kept us sane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BOM management across 7 boards is chaos - overlapping components, double-orders, lost parts.                        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Scope stretch goals as removable from day one - UWB dropped cleanly when we needed to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Documentation always takes longer than you think - plan for it, don't leave it to the last week                                                        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14213" y="2454154"/>
            <a:ext cx="7729787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LESSONS LEARNED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414213" y="4181686"/>
            <a:ext cx="15578951" cy="36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i="1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“When I breathe in the plastic, my head hurts for some reason”</a:t>
            </a:r>
          </a:p>
          <a:p>
            <a:pPr algn="l">
              <a:lnSpc>
                <a:spcPts val="7839"/>
              </a:lnSpc>
            </a:pPr>
            <a:endParaRPr lang="en-US" sz="5599" i="1">
              <a:solidFill>
                <a:srgbClr val="FFFFFF"/>
              </a:solidFill>
              <a:latin typeface="Lato Italics"/>
              <a:ea typeface="Lato Italics"/>
              <a:cs typeface="Lato Italics"/>
              <a:sym typeface="Lato Italics"/>
            </a:endParaRP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Minh 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4213" y="2454154"/>
            <a:ext cx="7729787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LESSONS LEARNED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11" y="9217628"/>
            <a:ext cx="2159312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28700" y="1141791"/>
            <a:ext cx="485501" cy="483527"/>
          </a:xfrm>
          <a:custGeom>
            <a:avLst/>
            <a:gdLst/>
            <a:ahLst/>
            <a:cxnLst/>
            <a:rect l="l" t="t" r="r" b="b"/>
            <a:pathLst>
              <a:path w="485501" h="483527">
                <a:moveTo>
                  <a:pt x="0" y="0"/>
                </a:moveTo>
                <a:lnTo>
                  <a:pt x="485501" y="0"/>
                </a:lnTo>
                <a:lnTo>
                  <a:pt x="485501" y="483527"/>
                </a:lnTo>
                <a:lnTo>
                  <a:pt x="0" y="48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5728228" y="1141791"/>
            <a:ext cx="11855442" cy="7898689"/>
          </a:xfrm>
          <a:custGeom>
            <a:avLst/>
            <a:gdLst/>
            <a:ahLst/>
            <a:cxnLst/>
            <a:rect l="l" t="t" r="r" b="b"/>
            <a:pathLst>
              <a:path w="11855442" h="7898689">
                <a:moveTo>
                  <a:pt x="0" y="0"/>
                </a:moveTo>
                <a:lnTo>
                  <a:pt x="11855443" y="0"/>
                </a:lnTo>
                <a:lnTo>
                  <a:pt x="11855443" y="7898689"/>
                </a:lnTo>
                <a:lnTo>
                  <a:pt x="0" y="7898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13041" y="2377440"/>
            <a:ext cx="3475287" cy="5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NEED TO PUT A GROUP PIC. I LOVE MY FREINDS AND I HAD SM FUN THIS PROJECT.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16" y="1103691"/>
            <a:ext cx="30283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HOOD RESEARCH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884</Words>
  <Application>Microsoft Office PowerPoint</Application>
  <PresentationFormat>Custom</PresentationFormat>
  <Paragraphs>178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Poppins Light</vt:lpstr>
      <vt:lpstr>Arial</vt:lpstr>
      <vt:lpstr>Lato Italics</vt:lpstr>
      <vt:lpstr>Aptos</vt:lpstr>
      <vt:lpstr>Poppins</vt:lpstr>
      <vt:lpstr>Lato</vt:lpstr>
      <vt:lpstr>Poppins Light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Specific Dynamics</dc:title>
  <cp:lastModifiedBy>Vikram PROCTER</cp:lastModifiedBy>
  <cp:revision>2</cp:revision>
  <dcterms:created xsi:type="dcterms:W3CDTF">2006-08-16T00:00:00Z</dcterms:created>
  <dcterms:modified xsi:type="dcterms:W3CDTF">2026-04-08T15:55:44Z</dcterms:modified>
  <dc:identifier>DAHGGsyRgFs</dc:identifier>
</cp:coreProperties>
</file>