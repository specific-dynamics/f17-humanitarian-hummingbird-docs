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A7"/>
    <a:srgbClr val="B1D1E1"/>
    <a:srgbClr val="DA5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26" d="100"/>
          <a:sy n="26" d="100"/>
        </p:scale>
        <p:origin x="113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74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679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47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846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852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3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43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9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91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424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427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261AB-7336-420E-9628-D429B807B258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6B0A0-BB04-479A-B13D-34865BA8AF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156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BF087A5-2A27-1B8C-BFA4-529086537DB7}"/>
              </a:ext>
            </a:extLst>
          </p:cNvPr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A105348-A109-8587-15FE-B7153CF57F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1" t="2264" r="12001"/>
          <a:stretch>
            <a:fillRect/>
          </a:stretch>
        </p:blipFill>
        <p:spPr>
          <a:xfrm rot="417987">
            <a:off x="-11677424" y="-5496355"/>
            <a:ext cx="28020760" cy="282213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47E42EA-B9B8-0644-115C-49E280D7EC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63526">
            <a:off x="22122686" y="9659882"/>
            <a:ext cx="10587325" cy="2072859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7C3820-054F-4658-19A3-31BA24B780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25686">
            <a:off x="13914445" y="-14130993"/>
            <a:ext cx="12295401" cy="2407278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4236BE1-5DD4-37A8-0A9A-D49DB70A71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1" t="2264" r="12001"/>
          <a:stretch>
            <a:fillRect/>
          </a:stretch>
        </p:blipFill>
        <p:spPr>
          <a:xfrm rot="17178658">
            <a:off x="22973506" y="-7200050"/>
            <a:ext cx="28020760" cy="282213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97C95F-B4FB-2581-2915-8AA3F709AEDD}"/>
              </a:ext>
            </a:extLst>
          </p:cNvPr>
          <p:cNvSpPr/>
          <p:nvPr/>
        </p:nvSpPr>
        <p:spPr>
          <a:xfrm>
            <a:off x="5644587" y="1943771"/>
            <a:ext cx="2162922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spc="6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F-17 Humanitarian Hummingbird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7C9611-AD4C-DC2B-8632-EE3D8377515C}"/>
              </a:ext>
            </a:extLst>
          </p:cNvPr>
          <p:cNvSpPr/>
          <p:nvPr/>
        </p:nvSpPr>
        <p:spPr>
          <a:xfrm>
            <a:off x="4059808" y="310403"/>
            <a:ext cx="24798776" cy="178510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0" b="1" cap="none" spc="-150" dirty="0">
                <a:ln w="0"/>
                <a:solidFill>
                  <a:srgbClr val="004EA7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StereoGothic-800" panose="04050808020B02020202" pitchFamily="82" charset="0"/>
              </a:rPr>
              <a:t>SPECIFIC </a:t>
            </a:r>
            <a:r>
              <a:rPr lang="en-US" sz="11000" b="1" cap="none" spc="-150" dirty="0">
                <a:ln w="0"/>
                <a:solidFill>
                  <a:srgbClr val="004EA7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EurostileExtendedBlack"/>
              </a:rPr>
              <a:t> </a:t>
            </a:r>
            <a:r>
              <a:rPr lang="en-US" sz="11000" b="1" spc="-150" dirty="0">
                <a:ln w="0"/>
                <a:solidFill>
                  <a:srgbClr val="004EA7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StereoGothic-800" panose="04050808020B02020202" pitchFamily="82" charset="0"/>
              </a:rPr>
              <a:t>DYNAMICS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70E8A-8B43-54E9-05B8-BD46B4478B6B}"/>
              </a:ext>
            </a:extLst>
          </p:cNvPr>
          <p:cNvSpPr txBox="1"/>
          <p:nvPr/>
        </p:nvSpPr>
        <p:spPr>
          <a:xfrm>
            <a:off x="6085574" y="3233105"/>
            <a:ext cx="20747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300" dirty="0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Chloe Fulbrook	   Ethan Sam    Khai Huynh    Vikram Procter    Caleb Garcia    Minh Do</a:t>
            </a:r>
            <a:endParaRPr lang="en-CA" sz="3200" spc="300" dirty="0">
              <a:ln w="0"/>
              <a:solidFill>
                <a:schemeClr val="bg1"/>
              </a:solidFill>
              <a:latin typeface="Lato" panose="020F0502020204030203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25A76-D25B-0C6E-526A-449C98EFFC32}"/>
              </a:ext>
            </a:extLst>
          </p:cNvPr>
          <p:cNvSpPr txBox="1"/>
          <p:nvPr/>
        </p:nvSpPr>
        <p:spPr>
          <a:xfrm>
            <a:off x="28186380" y="304799"/>
            <a:ext cx="448263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pc="300" dirty="0"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HOOD RESEARCH </a:t>
            </a:r>
          </a:p>
          <a:p>
            <a:pPr algn="r">
              <a:spcAft>
                <a:spcPts val="600"/>
              </a:spcAft>
            </a:pPr>
            <a:r>
              <a:rPr lang="en-US" sz="2400" spc="300" dirty="0"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DEPARTMENT</a:t>
            </a:r>
          </a:p>
          <a:p>
            <a:pPr algn="r"/>
            <a:r>
              <a:rPr lang="en-US" sz="2400" spc="300" dirty="0"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January-April 2026</a:t>
            </a:r>
            <a:endParaRPr lang="en-CA" sz="2400" spc="300" dirty="0">
              <a:solidFill>
                <a:schemeClr val="bg1"/>
              </a:solidFill>
              <a:latin typeface="Lato" panose="020F0502020204030203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73A38-1E43-D9BF-12E4-959B1D3FCBD8}"/>
              </a:ext>
            </a:extLst>
          </p:cNvPr>
          <p:cNvSpPr txBox="1"/>
          <p:nvPr/>
        </p:nvSpPr>
        <p:spPr>
          <a:xfrm>
            <a:off x="680189" y="4546581"/>
            <a:ext cx="7249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rPr>
              <a:t>Problem Statement</a:t>
            </a:r>
            <a:endParaRPr lang="en-CA" sz="6000" b="1" dirty="0">
              <a:ln w="0"/>
              <a:solidFill>
                <a:schemeClr val="bg1"/>
              </a:solidFill>
              <a:latin typeface="Lato" panose="020F0502020204030203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83EA6-DC7F-B238-E6E8-90498693BB73}"/>
              </a:ext>
            </a:extLst>
          </p:cNvPr>
          <p:cNvSpPr txBox="1"/>
          <p:nvPr/>
        </p:nvSpPr>
        <p:spPr>
          <a:xfrm>
            <a:off x="644934" y="9227876"/>
            <a:ext cx="5879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Flight Controls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1E992-2B54-CEA2-3819-DCE1FDA98740}"/>
              </a:ext>
            </a:extLst>
          </p:cNvPr>
          <p:cNvSpPr txBox="1"/>
          <p:nvPr/>
        </p:nvSpPr>
        <p:spPr>
          <a:xfrm>
            <a:off x="711879" y="15073574"/>
            <a:ext cx="6288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Communications</a:t>
            </a:r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64468D-E78C-9A7B-A76E-D517CA7C1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3" t="11636" r="13412" b="12248"/>
          <a:stretch>
            <a:fillRect/>
          </a:stretch>
        </p:blipFill>
        <p:spPr>
          <a:xfrm>
            <a:off x="10117165" y="4303062"/>
            <a:ext cx="12684067" cy="104088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11EF3E-DEA9-DC42-4E8E-E48018982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3" t="22859" r="9943" b="22366"/>
          <a:stretch>
            <a:fillRect/>
          </a:stretch>
        </p:blipFill>
        <p:spPr>
          <a:xfrm>
            <a:off x="11004100" y="14899993"/>
            <a:ext cx="10910195" cy="61807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8F40E52-36A7-C7E2-A6CC-A0A24C187C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2" y="303727"/>
            <a:ext cx="3106773" cy="310677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72D0D99-831B-89CD-B860-B6EC1CF48836}"/>
              </a:ext>
            </a:extLst>
          </p:cNvPr>
          <p:cNvSpPr txBox="1"/>
          <p:nvPr/>
        </p:nvSpPr>
        <p:spPr>
          <a:xfrm>
            <a:off x="1038023" y="5339927"/>
            <a:ext cx="858687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No sub-250g, modular, affordable microdrone exists on the market. Addresses that gap through an  adaptable platform for surveying and UAV applications.</a:t>
            </a:r>
            <a:endParaRPr lang="en-CA" sz="4000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F002FD-5009-9452-095D-F0E3B5A4AB80}"/>
              </a:ext>
            </a:extLst>
          </p:cNvPr>
          <p:cNvSpPr txBox="1"/>
          <p:nvPr/>
        </p:nvSpPr>
        <p:spPr>
          <a:xfrm>
            <a:off x="25185312" y="4546580"/>
            <a:ext cx="6649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pPr algn="r"/>
            <a:r>
              <a:rPr lang="en-US" dirty="0"/>
              <a:t>Testing &amp; Results</a:t>
            </a:r>
            <a:endParaRPr lang="en-CA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FDFC853-8FB6-E38C-55CB-1DDED6DDAF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4" t="22033" r="9560" b="14191"/>
          <a:stretch>
            <a:fillRect/>
          </a:stretch>
        </p:blipFill>
        <p:spPr>
          <a:xfrm rot="19588498">
            <a:off x="27549899" y="17585471"/>
            <a:ext cx="5755600" cy="35110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F1DD6F-D1F4-11E2-44E9-C97C7CE0B231}"/>
              </a:ext>
            </a:extLst>
          </p:cNvPr>
          <p:cNvSpPr txBox="1"/>
          <p:nvPr/>
        </p:nvSpPr>
        <p:spPr>
          <a:xfrm>
            <a:off x="1038024" y="10300487"/>
            <a:ext cx="83876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r>
              <a:rPr lang="en-US" dirty="0"/>
              <a:t>Wirelessly communicated flight controls drive a PID loop utilizing a Mahony filter to achieve flight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9C130-29BB-D5A6-F6F6-09D976A501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3" t="19094" r="8363" b="18785"/>
          <a:stretch>
            <a:fillRect/>
          </a:stretch>
        </p:blipFill>
        <p:spPr>
          <a:xfrm>
            <a:off x="863640" y="12612801"/>
            <a:ext cx="3572165" cy="20750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12AE6C-2CFE-4FBB-347E-7FCF5B38922D}"/>
              </a:ext>
            </a:extLst>
          </p:cNvPr>
          <p:cNvSpPr txBox="1"/>
          <p:nvPr/>
        </p:nvSpPr>
        <p:spPr>
          <a:xfrm>
            <a:off x="21914295" y="15288104"/>
            <a:ext cx="100812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Centered around a STM32f4 running bare-metal C firmware to control four brushless DC motors via 12 half bridges.  </a:t>
            </a:r>
            <a:endParaRPr lang="en-CA" sz="4000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D0685-6473-93CE-C0E9-EA134BC5DD99}"/>
              </a:ext>
            </a:extLst>
          </p:cNvPr>
          <p:cNvSpPr txBox="1"/>
          <p:nvPr/>
        </p:nvSpPr>
        <p:spPr>
          <a:xfrm>
            <a:off x="22630142" y="21286054"/>
            <a:ext cx="985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ENEL 400 | Electrical Engineering - Schulich School of  Engineering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4B7B31-C34C-8ACB-2FED-DE342294587D}"/>
              </a:ext>
            </a:extLst>
          </p:cNvPr>
          <p:cNvSpPr txBox="1"/>
          <p:nvPr/>
        </p:nvSpPr>
        <p:spPr>
          <a:xfrm>
            <a:off x="21914295" y="17141267"/>
            <a:ext cx="59913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 err="1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Sensorless</a:t>
            </a: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 interrupt driven trapezoidal six-step commutation allows for efficiencies over 50% better than off-the-shelf alternatives. </a:t>
            </a:r>
            <a:endParaRPr lang="en-CA" sz="4000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BF71E-A4B9-C064-EBFB-8F17A847E0A4}"/>
              </a:ext>
            </a:extLst>
          </p:cNvPr>
          <p:cNvSpPr txBox="1"/>
          <p:nvPr/>
        </p:nvSpPr>
        <p:spPr>
          <a:xfrm>
            <a:off x="908226" y="16089325"/>
            <a:ext cx="851743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r>
              <a:rPr lang="en-US" dirty="0"/>
              <a:t>The controller relays two bi-axial gimbal controls, four buttons, and one arming switch to the flight control board via ESP-NOW. Implements fault disable </a:t>
            </a:r>
          </a:p>
          <a:p>
            <a:r>
              <a:rPr lang="en-US" dirty="0"/>
              <a:t>safety logic and </a:t>
            </a:r>
          </a:p>
          <a:p>
            <a:r>
              <a:rPr lang="en-US" dirty="0"/>
              <a:t>allows a range of</a:t>
            </a:r>
          </a:p>
          <a:p>
            <a:r>
              <a:rPr lang="en-US" dirty="0"/>
              <a:t>over 20m.</a:t>
            </a:r>
            <a:endParaRPr lang="en-C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3DCAB-A7CC-5F9F-27CE-EE2158FABE89}"/>
              </a:ext>
            </a:extLst>
          </p:cNvPr>
          <p:cNvSpPr txBox="1"/>
          <p:nvPr/>
        </p:nvSpPr>
        <p:spPr>
          <a:xfrm>
            <a:off x="23293501" y="5656804"/>
            <a:ext cx="825946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7 custom PCBs. Over 3000 lines of code. Achieves stable control for ~5min flight times. Set up for modular development and autonomous control expansions</a:t>
            </a:r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886C25-8501-F1CD-6AE8-7097C67736D3}"/>
              </a:ext>
            </a:extLst>
          </p:cNvPr>
          <p:cNvSpPr txBox="1"/>
          <p:nvPr/>
        </p:nvSpPr>
        <p:spPr>
          <a:xfrm>
            <a:off x="4567274" y="12113370"/>
            <a:ext cx="55139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r>
              <a:rPr lang="en-US" dirty="0"/>
              <a:t>attitude targets. Specifies motor speeds using 50Hz PWM to ESCs.</a:t>
            </a:r>
            <a:endParaRPr lang="en-CA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0F75D1A-00C0-277E-2FC5-A8B84A1356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083" y="18572795"/>
            <a:ext cx="3978097" cy="29027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2F93B43-2D57-EE14-A0FA-8D100E1E5BFA}"/>
              </a:ext>
            </a:extLst>
          </p:cNvPr>
          <p:cNvSpPr txBox="1"/>
          <p:nvPr/>
        </p:nvSpPr>
        <p:spPr>
          <a:xfrm>
            <a:off x="25185312" y="9218989"/>
            <a:ext cx="66128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 b="1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pPr algn="r"/>
            <a:r>
              <a:rPr lang="en-US" dirty="0"/>
              <a:t>Mechanical Design</a:t>
            </a:r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EBA11D-595B-EC17-BE2A-13C0AB645F7C}"/>
              </a:ext>
            </a:extLst>
          </p:cNvPr>
          <p:cNvSpPr txBox="1"/>
          <p:nvPr/>
        </p:nvSpPr>
        <p:spPr>
          <a:xfrm>
            <a:off x="22018462" y="10261759"/>
            <a:ext cx="95345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Lato" panose="020F0502020204030203" pitchFamily="34" charset="0"/>
              </a:rPr>
              <a:t>Thrust to weight ratio up to 2.32 and light weight construction means incredible maneuverability.</a:t>
            </a:r>
            <a:endParaRPr lang="en-CA" sz="4000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F9070-2DBA-5C73-D57A-E36326FCF6B0}"/>
              </a:ext>
            </a:extLst>
          </p:cNvPr>
          <p:cNvSpPr txBox="1"/>
          <p:nvPr/>
        </p:nvSpPr>
        <p:spPr>
          <a:xfrm>
            <a:off x="22630142" y="14154224"/>
            <a:ext cx="95988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6000" b="1">
                <a:ln w="0"/>
                <a:solidFill>
                  <a:schemeClr val="bg1"/>
                </a:solidFill>
                <a:latin typeface="Lato" panose="020F0502020204030203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Brushless DC Motor Driver</a:t>
            </a:r>
            <a:endParaRPr lang="en-CA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308AFC7-8F58-C234-7866-C1066717CD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6653" y="11026895"/>
            <a:ext cx="4117102" cy="329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5387</TotalTime>
  <Words>216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Ebrima</vt:lpstr>
      <vt:lpstr>EurostileExtendedBlack</vt:lpstr>
      <vt:lpstr>Lato</vt:lpstr>
      <vt:lpstr>StereoGothic-800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Vikram PROCTER</dc:creator>
  <cp:lastModifiedBy>Vikram PROCTER</cp:lastModifiedBy>
  <cp:revision>23</cp:revision>
  <dcterms:created xsi:type="dcterms:W3CDTF">2026-04-03T05:22:28Z</dcterms:created>
  <dcterms:modified xsi:type="dcterms:W3CDTF">2026-04-07T08:22:00Z</dcterms:modified>
</cp:coreProperties>
</file>